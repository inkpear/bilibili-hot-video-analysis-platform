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3" name="Shape 1"/>
          <p:cNvSpPr/>
          <p:nvPr/>
        </p:nvSpPr>
        <p:spPr>
          <a:xfrm>
            <a:off x="6583680" y="2286000"/>
            <a:ext cx="4114800" cy="4114800"/>
          </a:xfrm>
          <a:prstGeom prst="rect">
            <a:avLst/>
          </a:prstGeom>
          <a:solidFill>
            <a:srgbClr val="2EA9DF">
              <a:alpha val="7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371600" y="-457200"/>
            <a:ext cx="3200400" cy="3200400"/>
          </a:xfrm>
          <a:prstGeom prst="rect">
            <a:avLst/>
          </a:prstGeom>
          <a:solidFill>
            <a:srgbClr val="E5668A">
              <a:alpha val="7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B站热门视频分析平台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大数据智能化综合实训 · 课程答辩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1828800" cy="36576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8" name="Text 6"/>
          <p:cNvSpPr/>
          <p:nvPr/>
        </p:nvSpPr>
        <p:spPr>
          <a:xfrm>
            <a:off x="731520" y="324612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第7组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2023级计科1班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指导教师：刘友缘  |  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答辩提纲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8016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25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1887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项目背景与目标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14884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94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0574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系统架构设计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" y="301752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63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29260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数据采集系统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40080" y="379476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77240" y="388620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2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9319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74520" y="37947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大数据平台搭建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754880" y="118872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4892040" y="128016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2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32588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89320" y="11887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数据仓库设计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4754880" y="205740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4892040" y="214884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2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2194560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89320" y="205740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数据分析与可视化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4754880" y="292608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4892040" y="301752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22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06324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989320" y="292608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关键技术亮点</a:t>
            </a:r>
            <a:endParaRPr lang="en-US" sz="1500" dirty="0"/>
          </a:p>
        </p:txBody>
      </p:sp>
      <p:sp>
        <p:nvSpPr>
          <p:cNvPr id="34" name="Shape 25"/>
          <p:cNvSpPr/>
          <p:nvPr/>
        </p:nvSpPr>
        <p:spPr>
          <a:xfrm>
            <a:off x="4754880" y="3794760"/>
            <a:ext cx="3749040" cy="7315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4892040" y="388620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22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3931920"/>
            <a:ext cx="457200" cy="4572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989320" y="37947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项目成果总结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项目背景与目标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BACKGROUND &amp; 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374904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88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1691640"/>
            <a:ext cx="338328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Bilibili（哔哩哔哩）是中国最大的弹幕视频网站，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月活跃用户超过3亿。每天有数以万计的创作者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上传视频，各分区热门排行榜动态变化频繁。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对大热门视频进行系统性的数据采集、存储、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分析和可视化展示，可以帮助内容创作者了解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平台热门趋势、优化创作方向，也为普通用户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提供更有价值的内容发现工具。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74904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252728"/>
            <a:ext cx="457200" cy="45720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31673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1430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自动化采集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0" y="144475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Rust高性能爬虫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14个分区 · 每日全量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2011680"/>
            <a:ext cx="374904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2167128"/>
            <a:ext cx="457200" cy="45720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23113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20574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大数据平台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486400" y="235915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Hadoop HDFS + Hive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分布式存储与数仓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374904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081528"/>
            <a:ext cx="457200" cy="45720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14553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971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可视化大屏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0" y="327355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+ ECharts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交互式数据看板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54880" y="3840480"/>
            <a:ext cx="374904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92040" y="3995928"/>
            <a:ext cx="457200" cy="45720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059936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3886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文本分析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486400" y="418795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jieba-rs中文分词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词云与词频趋势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系统整体架构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SYSTEM ARCHITECTURE</a:t>
            </a:r>
            <a:endParaRPr lang="en-US" sz="1300" dirty="0"/>
          </a:p>
        </p:txBody>
      </p:sp>
      <p:pic>
        <p:nvPicPr>
          <p:cNvPr id="6" name="Image 0" descr="/Volumes/code/GIT/Bilibili-Hot-Video-Analysis-Platform/docs/diagrams_ppt/arch_architectur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34747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0" y="1005840"/>
            <a:ext cx="4297680" cy="66751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06240" y="1005840"/>
            <a:ext cx="54864" cy="667512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9" name="Text 6"/>
          <p:cNvSpPr/>
          <p:nvPr/>
        </p:nvSpPr>
        <p:spPr>
          <a:xfrm>
            <a:off x="4434840" y="102412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数据采集层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34840" y="129844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Rust 异步爬虫 · WBI v3 签名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账号并发轮换 · tokio 运行时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06240" y="1783080"/>
            <a:ext cx="4297680" cy="66751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783080"/>
            <a:ext cx="54864" cy="66751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13" name="Text 10"/>
          <p:cNvSpPr/>
          <p:nvPr/>
        </p:nvSpPr>
        <p:spPr>
          <a:xfrm>
            <a:off x="4434840" y="18013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数据存储层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34840" y="207568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Hadoop HDFS 3.1.3 · 3 节点集群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Docker Compose 编排 · NDJSON 分区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06240" y="2560320"/>
            <a:ext cx="4297680" cy="66751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2560320"/>
            <a:ext cx="54864" cy="667512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17" name="Text 14"/>
          <p:cNvSpPr/>
          <p:nvPr/>
        </p:nvSpPr>
        <p:spPr>
          <a:xfrm>
            <a:off x="4434840" y="257860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数据处理层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34840" y="285292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Hive 3.1.2 · Spark 2.2.0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jieba-rs 中文分词 · MySQL Metastore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06240" y="3337560"/>
            <a:ext cx="4297680" cy="66751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06240" y="3337560"/>
            <a:ext cx="54864" cy="66751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21" name="Text 18"/>
          <p:cNvSpPr/>
          <p:nvPr/>
        </p:nvSpPr>
        <p:spPr>
          <a:xfrm>
            <a:off x="4434840" y="33558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数据服务层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434840" y="36301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MySQL 8.0 · Rust Axum API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 个 REST 端点 · Bearer 鉴权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06240" y="4114800"/>
            <a:ext cx="4297680" cy="667512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06240" y="4114800"/>
            <a:ext cx="54864" cy="667512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25" name="Text 22"/>
          <p:cNvSpPr/>
          <p:nvPr/>
        </p:nvSpPr>
        <p:spPr>
          <a:xfrm>
            <a:off x="4434840" y="41330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数据展示层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434840" y="440740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19 + ECharts 5 + Vite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Nginx 反向代理 · FRP 公网穿透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五层架构 · 松耦合高内聚  |  NDJSON → HDFS → Hive → MySQL → API → React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数据采集系统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 CRAWLER</a:t>
            </a:r>
            <a:endParaRPr lang="en-US" sz="1300" dirty="0"/>
          </a:p>
        </p:txBody>
      </p:sp>
      <p:pic>
        <p:nvPicPr>
          <p:cNvPr id="6" name="Image 0" descr="/Volumes/code/GIT/Bilibili-Hot-Video-Analysis-Platform/docs/diagrams_ppt/arch_crawler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097280"/>
            <a:ext cx="338328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097280"/>
            <a:ext cx="3383280" cy="329184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7680" y="1097280"/>
            <a:ext cx="420624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0" y="1097280"/>
            <a:ext cx="54864" cy="566928"/>
          </a:xfrm>
          <a:prstGeom prst="rect">
            <a:avLst/>
          </a:prstGeom>
          <a:solidFill>
            <a:srgbClr val="2EA9D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78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1115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Rust + Tokio 异步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138988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高性能并发爬虫，3账号轮换采集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97680" y="1783080"/>
            <a:ext cx="420624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297680" y="1783080"/>
            <a:ext cx="54864" cy="566928"/>
          </a:xfrm>
          <a:prstGeom prst="rect">
            <a:avLst/>
          </a:prstGeom>
          <a:solidFill>
            <a:srgbClr val="E5668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8366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3480" y="18013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14个内容分区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983480" y="207568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影视、游戏、知识、音乐等全覆盖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297680" y="2468880"/>
            <a:ext cx="420624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297680" y="2468880"/>
            <a:ext cx="54864" cy="566928"/>
          </a:xfrm>
          <a:prstGeom prst="rect">
            <a:avLst/>
          </a:prstGeom>
          <a:solidFill>
            <a:srgbClr val="2EA9DF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56946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83480" y="24871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WBI v3 签名认证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983480" y="276148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反反爬：设备指纹 + 多账号 + 限速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297680" y="3154680"/>
            <a:ext cx="420624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297680" y="3154680"/>
            <a:ext cx="54864" cy="566928"/>
          </a:xfrm>
          <a:prstGeom prst="rect">
            <a:avLst/>
          </a:prstGeom>
          <a:solidFill>
            <a:srgbClr val="E5668A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25526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83480" y="31729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SQLite 状态机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983480" y="344728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断点续爬 + 失败重试（最多10次）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297680" y="3840480"/>
            <a:ext cx="4206240" cy="56692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297680" y="3840480"/>
            <a:ext cx="54864" cy="566928"/>
          </a:xfrm>
          <a:prstGeom prst="rect">
            <a:avLst/>
          </a:prstGeom>
          <a:solidFill>
            <a:srgbClr val="2EA9DF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94106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83480" y="38587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NDJSON 输出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4983480" y="4133088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每日原始数据 ~250MB，按日期组织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40080" y="4434840"/>
            <a:ext cx="1828800" cy="411480"/>
          </a:xfrm>
          <a:prstGeom prst="rect">
            <a:avLst/>
          </a:prstGeom>
          <a:solidFill>
            <a:srgbClr val="E5668A">
              <a:alpha val="88000"/>
            </a:srgbClr>
          </a:solidFill>
        </p:spPr>
      </p:sp>
      <p:sp>
        <p:nvSpPr>
          <p:cNvPr id="34" name="Text 26"/>
          <p:cNvSpPr/>
          <p:nvPr/>
        </p:nvSpPr>
        <p:spPr>
          <a:xfrm>
            <a:off x="64008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1,400+ </a:t>
            </a: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视频/天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2697480" y="4434840"/>
            <a:ext cx="1828800" cy="411480"/>
          </a:xfrm>
          <a:prstGeom prst="rect">
            <a:avLst/>
          </a:prstGeom>
          <a:solidFill>
            <a:srgbClr val="2EA9DF">
              <a:alpha val="88000"/>
            </a:srgbClr>
          </a:solidFill>
        </p:spPr>
      </p:sp>
      <p:sp>
        <p:nvSpPr>
          <p:cNvPr id="36" name="Text 28"/>
          <p:cNvSpPr/>
          <p:nvPr/>
        </p:nvSpPr>
        <p:spPr>
          <a:xfrm>
            <a:off x="269748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A9D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23万+ </a:t>
            </a: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评论/天</a:t>
            </a:r>
            <a:endParaRPr lang="en-US" sz="1800" dirty="0"/>
          </a:p>
        </p:txBody>
      </p:sp>
      <p:sp>
        <p:nvSpPr>
          <p:cNvPr id="37" name="Shape 29"/>
          <p:cNvSpPr/>
          <p:nvPr/>
        </p:nvSpPr>
        <p:spPr>
          <a:xfrm>
            <a:off x="4754880" y="4434840"/>
            <a:ext cx="1828800" cy="411480"/>
          </a:xfrm>
          <a:prstGeom prst="rect">
            <a:avLst/>
          </a:prstGeom>
          <a:solidFill>
            <a:srgbClr val="E5668A">
              <a:alpha val="88000"/>
            </a:srgbClr>
          </a:solidFill>
        </p:spPr>
      </p:sp>
      <p:sp>
        <p:nvSpPr>
          <p:cNvPr id="38" name="Text 30"/>
          <p:cNvSpPr/>
          <p:nvPr/>
        </p:nvSpPr>
        <p:spPr>
          <a:xfrm>
            <a:off x="475488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85万+ </a:t>
            </a: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弹幕/天</a:t>
            </a:r>
            <a:endParaRPr lang="en-US" sz="1800" dirty="0"/>
          </a:p>
        </p:txBody>
      </p:sp>
      <p:sp>
        <p:nvSpPr>
          <p:cNvPr id="39" name="Shape 31"/>
          <p:cNvSpPr/>
          <p:nvPr/>
        </p:nvSpPr>
        <p:spPr>
          <a:xfrm>
            <a:off x="6812280" y="4434840"/>
            <a:ext cx="1828800" cy="411480"/>
          </a:xfrm>
          <a:prstGeom prst="rect">
            <a:avLst/>
          </a:prstGeom>
          <a:solidFill>
            <a:srgbClr val="2EA9DF">
              <a:alpha val="88000"/>
            </a:srgbClr>
          </a:solidFill>
        </p:spPr>
      </p:sp>
      <p:sp>
        <p:nvSpPr>
          <p:cNvPr id="40" name="Text 32"/>
          <p:cNvSpPr/>
          <p:nvPr/>
        </p:nvSpPr>
        <p:spPr>
          <a:xfrm>
            <a:off x="6812280" y="44348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A9D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1,300+ </a:t>
            </a: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UP主/天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大数据平台搭建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BIG DATA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468880" cy="3291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2468880" cy="54864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8" name="Shape 6"/>
          <p:cNvSpPr/>
          <p:nvPr/>
        </p:nvSpPr>
        <p:spPr>
          <a:xfrm>
            <a:off x="1508760" y="1463040"/>
            <a:ext cx="731520" cy="73152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Hadoop HDFS 3.1.3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83464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分布式文件系统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3节点集群（1 NameNode + 2 DataNode）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Docker Compose 一键编排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高容错 · 高吞吐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188720"/>
            <a:ext cx="2468880" cy="3291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88720"/>
            <a:ext cx="2468880" cy="54864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14" name="Shape 11"/>
          <p:cNvSpPr/>
          <p:nvPr/>
        </p:nvSpPr>
        <p:spPr>
          <a:xfrm>
            <a:off x="4251960" y="1463040"/>
            <a:ext cx="731520" cy="73152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002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3774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Hive 3.1.2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283464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数据仓库工具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MySQL Metastore 元数据存储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HiveServer2 + Beeline 客户端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HQL → MapReduce/Spark 作业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188720"/>
            <a:ext cx="2468880" cy="3291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188720"/>
            <a:ext cx="2468880" cy="54864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20" name="Shape 16"/>
          <p:cNvSpPr/>
          <p:nvPr/>
        </p:nvSpPr>
        <p:spPr>
          <a:xfrm>
            <a:off x="6995160" y="1463040"/>
            <a:ext cx="731520" cy="73152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3774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Spark 2.2.0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55080" y="283464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分布式计算引擎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PySpark DataFrame API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ETL 清洗 + 聚合计算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比 MapReduce 快 100x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Text 20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全部组件通过 Docker 容器化部署在 WSL2 Ubuntu 环境中  |  JDK 8u212  |  ZooKeeper 3.5.7  |  HBase 2.2.2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数据仓库设计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 WAREHOUSE — ODS → DWD → DWS → ADS</a:t>
            </a:r>
            <a:endParaRPr lang="en-US" sz="1300" dirty="0"/>
          </a:p>
        </p:txBody>
      </p:sp>
      <p:pic>
        <p:nvPicPr>
          <p:cNvPr id="6" name="Image 0" descr="/Volumes/code/GIT/Bilibili-Hot-Video-Analysis-Platform/docs/diagrams_ppt/arch_warehous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1005840"/>
            <a:ext cx="411480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1051560"/>
            <a:ext cx="393192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0" y="1051560"/>
            <a:ext cx="54864" cy="822960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9" name="Text 6"/>
          <p:cNvSpPr/>
          <p:nvPr/>
        </p:nvSpPr>
        <p:spPr>
          <a:xfrm>
            <a:off x="4800600" y="10972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ODS 操作数据层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00600" y="13716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外部表映射 HDFS 原始 NDJSON 文件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按日期分区存储，JsonSerDe 解析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保留所有原始数据，不做任何清洗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393192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920240"/>
            <a:ext cx="54864" cy="822960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13" name="Text 10"/>
          <p:cNvSpPr/>
          <p:nvPr/>
        </p:nvSpPr>
        <p:spPr>
          <a:xfrm>
            <a:off x="4800600" y="19659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DWD 明细数据层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00600" y="224028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JSON 字段解析为结构化列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(bvid, snapshot_date) 组合键去重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缺失值填充 + 字段类型统一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2788920"/>
            <a:ext cx="393192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0" y="2788920"/>
            <a:ext cx="54864" cy="822960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17" name="Text 14"/>
          <p:cNvSpPr/>
          <p:nvPr/>
        </p:nvSpPr>
        <p:spPr>
          <a:xfrm>
            <a:off x="4800600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DWS 服务数据层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00600" y="31089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计算互动率等衍生指标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按分区 / 日期维度聚合统计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汇总全站每日总量数据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3657600"/>
            <a:ext cx="393192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0" y="3657600"/>
            <a:ext cx="54864" cy="822960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21" name="Text 18"/>
          <p:cNvSpPr/>
          <p:nvPr/>
        </p:nvSpPr>
        <p:spPr>
          <a:xfrm>
            <a:off x="4800600" y="3703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ADS 应用数据层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00600" y="39776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面向分析场景的结果表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热度评分排名 · 分区对比 · 词频趋势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直接对接后端 API 查询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数据分析模型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ANALYSIS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97280"/>
            <a:ext cx="54864" cy="1463040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8" name="Text 6"/>
          <p:cNvSpPr/>
          <p:nvPr/>
        </p:nvSpPr>
        <p:spPr>
          <a:xfrm>
            <a:off x="914400" y="11430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热度评分公式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HeatScore = LN(播放) × 3.0 + LN(点赞) × 3.5 + LN(投币) × 3.0 + LN(收藏) × 4.0 + LN(评论) × 1.0 + LN(分享) × 2.0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收藏权重最高（4.0）→ 表达用户对内容价值的最高认可  |  评论权重最低（1.0）→ 受争议性内容影响较大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79476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90088"/>
            <a:ext cx="502920" cy="50292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54096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28803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分区对比分析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2186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14个分区的平均播放量、互动率、UP主分布横向对比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9160" y="2834640"/>
            <a:ext cx="379476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2990088"/>
            <a:ext cx="502920" cy="50292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3054096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28803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生命周期追踪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0" y="32186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视频从热门到衰减的播放量/点赞数/排名变化曲线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0080" y="3840480"/>
            <a:ext cx="379476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77240" y="3995928"/>
            <a:ext cx="502920" cy="50292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59936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886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词云与词频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417320" y="422452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jieba-rs 分词 + 679停用词过滤 → 标题/评论/弹幕词云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09160" y="3840480"/>
            <a:ext cx="3794760" cy="914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46320" y="3995928"/>
            <a:ext cx="502920" cy="50292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405993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886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互动率雷达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486400" y="422452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点赞率 · 投币率 · 收藏率 · 评论率 · 分享率 五维分析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关键技术亮点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TECHNICAL HIGHLIGHTS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246888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43000"/>
            <a:ext cx="2468880" cy="54864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8" name="Shape 6"/>
          <p:cNvSpPr/>
          <p:nvPr/>
        </p:nvSpPr>
        <p:spPr>
          <a:xfrm>
            <a:off x="1463040" y="1371600"/>
            <a:ext cx="640080" cy="64008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087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Rust 异步爬虫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3774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tokio 运行时 · 3账号并发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WBI v3 签名 · SQLite状态机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1143000"/>
            <a:ext cx="246888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43000"/>
            <a:ext cx="2468880" cy="54864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14" name="Shape 11"/>
          <p:cNvSpPr/>
          <p:nvPr/>
        </p:nvSpPr>
        <p:spPr>
          <a:xfrm>
            <a:off x="4206240" y="1371600"/>
            <a:ext cx="640080" cy="64008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InnoDB 性能优化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23774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buffer_pool 4G · log 1G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ETL 时间 2min → 13s (9x)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1143000"/>
            <a:ext cx="246888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143000"/>
            <a:ext cx="2468880" cy="54864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20" name="Shape 16"/>
          <p:cNvSpPr/>
          <p:nvPr/>
        </p:nvSpPr>
        <p:spPr>
          <a:xfrm>
            <a:off x="6949440" y="1371600"/>
            <a:ext cx="640080" cy="640080"/>
          </a:xfrm>
          <a:prstGeom prst="rect">
            <a:avLst/>
          </a:prstGeom>
          <a:solidFill>
            <a:srgbClr val="E5668A">
              <a:alpha val="85000"/>
            </a:srgbClr>
          </a:solidFill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087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中文分词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37744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jieba-rs v0.10 · 679 停用词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标题/评论/弹幕 三维词云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40080" y="3017520"/>
            <a:ext cx="246888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" y="3017520"/>
            <a:ext cx="2468880" cy="54864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26" name="Shape 21"/>
          <p:cNvSpPr/>
          <p:nvPr/>
        </p:nvSpPr>
        <p:spPr>
          <a:xfrm>
            <a:off x="1463040" y="3246120"/>
            <a:ext cx="640080" cy="64008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38328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" y="39776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Docker 全容器化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77240" y="42519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Hadoop/Hive/Spark/MySQL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一键编排 · 环境一致性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383280" y="3017520"/>
            <a:ext cx="246888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83280" y="3017520"/>
            <a:ext cx="2468880" cy="54864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32" name="Shape 26"/>
          <p:cNvSpPr/>
          <p:nvPr/>
        </p:nvSpPr>
        <p:spPr>
          <a:xfrm>
            <a:off x="4206240" y="3246120"/>
            <a:ext cx="640080" cy="64008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38328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520440" y="39776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四层数仓建模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520440" y="42519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ODS→DWD→DWS→ADS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分区 + 快照设计 · TB级数据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26480" y="3017520"/>
            <a:ext cx="2468880" cy="16916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26480" y="3017520"/>
            <a:ext cx="2468880" cy="54864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38" name="Shape 31"/>
          <p:cNvSpPr/>
          <p:nvPr/>
        </p:nvSpPr>
        <p:spPr>
          <a:xfrm>
            <a:off x="6949440" y="3246120"/>
            <a:ext cx="640080" cy="640080"/>
          </a:xfrm>
          <a:prstGeom prst="rect">
            <a:avLst/>
          </a:prstGeom>
          <a:solidFill>
            <a:srgbClr val="2EA9DF">
              <a:alpha val="85000"/>
            </a:srgbClr>
          </a:solidFill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38328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263640" y="39776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前后端分离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263640" y="42519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19 + Axum + ECharts 5</a:t>
            </a:r>
            <a:endParaRPr lang="en-US" sz="9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 个 REST API · 交互式大屏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4" name="Text 2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数据可视化展示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 VISUALIZATION</a:t>
            </a:r>
            <a:endParaRPr lang="en-US" sz="1300" dirty="0"/>
          </a:p>
        </p:txBody>
      </p:sp>
      <p:pic>
        <p:nvPicPr>
          <p:cNvPr id="6" name="Image 0" descr="/Volumes/code/GIT/Bilibili-Hot-Video-Analysis-Platform/docs/diagrams_ppt/arch_fronten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005840"/>
            <a:ext cx="78638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9D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19 + TypeScript + Vite  |  ECharts 5  |  Tailwind CSS  |  Axios  |  Nginx 反向代理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246888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926080"/>
            <a:ext cx="45720" cy="822960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10" name="Text 7"/>
          <p:cNvSpPr/>
          <p:nvPr/>
        </p:nvSpPr>
        <p:spPr>
          <a:xfrm>
            <a:off x="804672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KPI 指标卡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视频总数 · 总播放量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UP主数 · 总互动量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2926080"/>
            <a:ext cx="246888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2926080"/>
            <a:ext cx="45720" cy="822960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14" name="Text 11"/>
          <p:cNvSpPr/>
          <p:nvPr/>
        </p:nvSpPr>
        <p:spPr>
          <a:xfrm>
            <a:off x="3547872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分区热度柱状图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47872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14分区多维度对比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排序/筛选/Hover详情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2926080"/>
            <a:ext cx="246888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926080"/>
            <a:ext cx="45720" cy="822960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18" name="Text 15"/>
          <p:cNvSpPr/>
          <p:nvPr/>
        </p:nvSpPr>
        <p:spPr>
          <a:xfrm>
            <a:off x="6291072" y="29718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热门视频排行榜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91072" y="32461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分页表格 · 多条件排序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点击联动其他组件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840480"/>
            <a:ext cx="246888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840480"/>
            <a:ext cx="45720" cy="822960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22" name="Text 19"/>
          <p:cNvSpPr/>
          <p:nvPr/>
        </p:nvSpPr>
        <p:spPr>
          <a:xfrm>
            <a:off x="804672" y="38862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生命周期曲线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播放量/点赞/投币/排名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多快照追踪 · 插值填充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383280" y="3840480"/>
            <a:ext cx="246888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83280" y="3840480"/>
            <a:ext cx="45720" cy="822960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26" name="Text 23"/>
          <p:cNvSpPr/>
          <p:nvPr/>
        </p:nvSpPr>
        <p:spPr>
          <a:xfrm>
            <a:off x="3547872" y="38862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词云图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547872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标题/评论/弹幕三Tab切换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前100高频词 · 分区筛选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126480" y="3840480"/>
            <a:ext cx="2468880" cy="82296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26480" y="3840480"/>
            <a:ext cx="45720" cy="822960"/>
          </a:xfrm>
          <a:prstGeom prst="rect">
            <a:avLst/>
          </a:prstGeom>
          <a:solidFill>
            <a:srgbClr val="2EA9DF"/>
          </a:solidFill>
        </p:spPr>
      </p:sp>
      <p:sp>
        <p:nvSpPr>
          <p:cNvPr id="30" name="Text 27"/>
          <p:cNvSpPr/>
          <p:nvPr/>
        </p:nvSpPr>
        <p:spPr>
          <a:xfrm>
            <a:off x="6291072" y="38862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互动率雷达图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91072" y="41605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五维互动率对比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全站最大值参考线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 个 REST API 端点  |  Rust Axum 框架  |  JSON 响应  |  CORS + Bearer Token 鉴权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项目成果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600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2468880" cy="45720"/>
          </a:xfrm>
          <a:prstGeom prst="rect">
            <a:avLst/>
          </a:prstGeom>
          <a:solidFill>
            <a:srgbClr val="E5668A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1,400+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日采集视频数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468880" cy="1600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188720"/>
            <a:ext cx="2468880" cy="45720"/>
          </a:xfrm>
          <a:prstGeom prst="rect">
            <a:avLst/>
          </a:prstGeom>
          <a:solidFill>
            <a:srgbClr val="2EA9D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828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A9D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108万+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47472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日采集总记录数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468880" cy="1600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0" y="1188720"/>
            <a:ext cx="2468880" cy="45720"/>
          </a:xfrm>
          <a:prstGeom prst="rect">
            <a:avLst/>
          </a:prstGeom>
          <a:solidFill>
            <a:srgbClr val="E5668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828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~250MB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217920" y="22860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日原始数据量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017520"/>
            <a:ext cx="2468880" cy="1600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17520"/>
            <a:ext cx="2468880" cy="45720"/>
          </a:xfrm>
          <a:prstGeom prst="rect">
            <a:avLst/>
          </a:prstGeom>
          <a:solidFill>
            <a:srgbClr val="E5668A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2004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" y="3657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13s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73152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ETL处理耗时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(优化后)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383280" y="3017520"/>
            <a:ext cx="2468880" cy="1600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383280" y="3017520"/>
            <a:ext cx="2468880" cy="45720"/>
          </a:xfrm>
          <a:prstGeom prst="rect">
            <a:avLst/>
          </a:prstGeom>
          <a:solidFill>
            <a:srgbClr val="2EA9DF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20040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657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A9D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13</a:t>
            </a:r>
            <a:endParaRPr lang="en-US" sz="2800" dirty="0"/>
          </a:p>
        </p:txBody>
      </p:sp>
      <p:sp>
        <p:nvSpPr>
          <p:cNvPr id="27" name="Text 20"/>
          <p:cNvSpPr/>
          <p:nvPr/>
        </p:nvSpPr>
        <p:spPr>
          <a:xfrm>
            <a:off x="347472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REST API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端点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26480" y="3017520"/>
            <a:ext cx="2468880" cy="1600200"/>
          </a:xfrm>
          <a:prstGeom prst="rect">
            <a:avLst/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26480" y="3017520"/>
            <a:ext cx="2468880" cy="45720"/>
          </a:xfrm>
          <a:prstGeom prst="rect">
            <a:avLst/>
          </a:prstGeom>
          <a:solidFill>
            <a:srgbClr val="E5668A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20040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17920" y="36576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566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</a:t>
            </a:r>
            <a:endParaRPr lang="en-US" sz="2800" dirty="0"/>
          </a:p>
        </p:txBody>
      </p:sp>
      <p:sp>
        <p:nvSpPr>
          <p:cNvPr id="32" name="Text 24"/>
          <p:cNvSpPr/>
          <p:nvPr/>
        </p:nvSpPr>
        <p:spPr>
          <a:xfrm>
            <a:off x="6217920" y="41148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MySQL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rect">
            <a:avLst/>
          </a:prstGeom>
          <a:solidFill>
            <a:srgbClr val="2EA9DF">
              <a:alpha val="7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-457200"/>
            <a:ext cx="2743200" cy="2743200"/>
          </a:xfrm>
          <a:prstGeom prst="rect">
            <a:avLst/>
          </a:prstGeom>
          <a:solidFill>
            <a:srgbClr val="E5668A">
              <a:alpha val="7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1828800" cy="36576"/>
          </a:xfrm>
          <a:prstGeom prst="rect">
            <a:avLst/>
          </a:prstGeom>
          <a:solidFill>
            <a:srgbClr val="E5668A"/>
          </a:solidFill>
        </p:spPr>
      </p:sp>
      <p:sp>
        <p:nvSpPr>
          <p:cNvPr id="7" name="Text 5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请各位老师批评指正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第7组  |  张柒鑫 · 李欣灿 · 湛峰 · 李方平 · 唐俊杰 · 刘俊东 · 夏天爱</a:t>
            </a:r>
            <a:endParaRPr lang="en-US" sz="11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2023级计科1班  |  指导教师：刘友缘</a:t>
            </a:r>
            <a:endParaRPr lang="en-US" sz="11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github.com/inkpear/Bilibili-Hot-Video-Analysis-Platform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WPS 文字</Application>
  <PresentationFormat>On-screen Show (16:9)</PresentationFormat>
  <Paragraphs>333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B站热门视频分析平台 - 答辩PPT</dc:title>
  <dc:creator>Group 7</dc:creator>
  <dc:subject>PptxGenJS Presentation</dc:subject>
  <cp:lastModifiedBy>墨</cp:lastModifiedBy>
  <cp:revision>3</cp:revision>
  <dcterms:created xsi:type="dcterms:W3CDTF">2026-06-17T05:31:57Z</dcterms:created>
  <dcterms:modified xsi:type="dcterms:W3CDTF">2026-06-17T05:31:57Z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00B4E43F1924922A682A326AFFB3C51D_42</vt:lpwstr>
  </property>
</Properties>
</file>